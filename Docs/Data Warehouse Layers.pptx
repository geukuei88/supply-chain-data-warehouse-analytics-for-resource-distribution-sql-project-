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8B68-F327-4DC1-A069-EB3C39E33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97796-564C-40E7-8D74-946907F6F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4F3A7-AD6C-4EB5-80E9-C6C74D28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0B3FC-3AA2-4908-B8A6-779FC0D4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5F6E1-14EA-4A84-A773-78B8DCDC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2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96A2A-D194-417B-B760-29C858BC6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4C54E-B517-4392-B2FB-73DCCCC89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6C938-DF7E-4ED6-9184-FB94E9DA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F3F5-0792-4389-B1F0-0F9962BD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2807B-EFBB-4885-8311-C92DE9CE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4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EFB3-AD7F-4258-9ADE-8A437F09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832F3-0E59-413D-A5C4-0F002AFDE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AD6B-9798-4822-AE8D-73B88A8D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9032-558F-45BF-A397-621ED231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166C8-EB72-404A-BC50-9FA7D274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2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07FB-0625-4122-8438-61202188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13FAC-8773-4944-8C8F-12C92E9EB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47C60-3B91-438F-82E8-06AEEEB55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E5E7C-A870-4224-AC38-6B9C893A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C6641-2CE1-444C-A169-64B9254E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24E10-C408-4ABF-A8CF-CCB5304A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91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636A7-107B-46CD-8F5E-01176187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A9D1F-E3D5-427A-8702-130958DA8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70DE3-D6C1-42AF-BF24-2EC3701F4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98567-3010-4690-8ABA-C6AC7B3D1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FEBD3C-2846-47BB-A275-64CF5399E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40D07-719D-4A72-BA02-E15A9B483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87626E-F9A8-4141-A1BA-C3C8A2DB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47FAA-6FBC-4BA1-A95F-39426234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6BDC-54B0-4295-9F54-5813049C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C9AD5-6F6C-441F-A64E-DD7172AD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8E67F-DC85-483E-945B-1AA64EB2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185EF-9986-4E96-BC77-95CA2A1F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1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C9084D-EB79-4044-8095-C1F47DD87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68734-925E-4CF4-85C5-10F15182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D8903-71E4-446C-ACB5-F6C88AF1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7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AB4D-FC9D-4A40-8C1F-DC80C71A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FEEF7-E328-4412-B833-80C8CD5E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B5387-322F-4D4E-86CA-AB30FB279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A9BAD-E4A5-4B5D-A749-B78956F1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AA397-2CA4-4312-BF7B-1559C3A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C9FEE-0F38-43F4-896E-2B7FE763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1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75BD-6ECB-4B58-B61B-3B3B26F5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CD517-EE7B-4483-B315-329D7A8B9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00480-876B-41DA-91EE-62213A5F3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04B5E-C0A4-408A-9FFE-AF2954B5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9C934-F13F-4966-AF1A-1989164E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2D8FA-D180-4141-A2F7-8FA60775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3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9493-F094-48FB-A06C-7BB8337A4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373AC-DFDB-4FD4-96FD-445C51DF7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DAC40-C381-4B18-BEDF-98B22611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12AFC-A443-44B5-926B-E77CD0BF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94F05-8259-4867-A30E-FC446E9C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7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C12688-A0F0-4BF0-8361-E5E475AC0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7002B-DECF-4923-A9C6-F92B92B29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F2FC-90CE-45C5-A1FC-52C7B65B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13EFA-1BAB-4C2C-897D-F9C3B562D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BA278-B601-4153-8F9B-D225110A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3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B9BCC-2C1A-4F21-B25A-5145D7FC4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650BF-8C7F-4DA2-9B22-A5C434C9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9BAE7-F218-4DA0-AD51-8669934D3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FB0BD-A08C-4517-BC59-92ED617142A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E3A71-A90F-455E-BEB4-56C270654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11721-5020-490C-855D-EFC4B518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A966E-252F-4EAA-97FA-AD4902AD7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95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8915-5070-4B88-BD3A-2FA0479DE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480" y="97815"/>
            <a:ext cx="10515600" cy="477837"/>
          </a:xfrm>
        </p:spPr>
        <p:txBody>
          <a:bodyPr>
            <a:normAutofit/>
          </a:bodyPr>
          <a:lstStyle/>
          <a:p>
            <a:r>
              <a:rPr lang="en-US" sz="2800" b="1" dirty="0"/>
              <a:t>Design the Data Warehouse Layers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30557-0039-4AA4-8C68-1E58305771B0}"/>
              </a:ext>
            </a:extLst>
          </p:cNvPr>
          <p:cNvSpPr/>
          <p:nvPr/>
        </p:nvSpPr>
        <p:spPr>
          <a:xfrm>
            <a:off x="3270250" y="586147"/>
            <a:ext cx="2016760" cy="47783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Bronze Layer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08569-E410-4C2B-8AB5-DD9C06EF296C}"/>
              </a:ext>
            </a:extLst>
          </p:cNvPr>
          <p:cNvSpPr/>
          <p:nvPr/>
        </p:nvSpPr>
        <p:spPr>
          <a:xfrm>
            <a:off x="5520690" y="575652"/>
            <a:ext cx="2038350" cy="47783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Silver Layer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2B71D-FD1F-474D-9393-45A948E96208}"/>
              </a:ext>
            </a:extLst>
          </p:cNvPr>
          <p:cNvSpPr/>
          <p:nvPr/>
        </p:nvSpPr>
        <p:spPr>
          <a:xfrm>
            <a:off x="7792720" y="604033"/>
            <a:ext cx="2038350" cy="4778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Gold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0F983E-0EA5-4AF0-97E2-2F7FF2BF21FF}"/>
              </a:ext>
            </a:extLst>
          </p:cNvPr>
          <p:cNvSpPr/>
          <p:nvPr/>
        </p:nvSpPr>
        <p:spPr>
          <a:xfrm>
            <a:off x="1173480" y="1197388"/>
            <a:ext cx="1859280" cy="5413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Definition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B628C-EEA7-4147-B515-8B2A8257908A}"/>
              </a:ext>
            </a:extLst>
          </p:cNvPr>
          <p:cNvSpPr/>
          <p:nvPr/>
        </p:nvSpPr>
        <p:spPr>
          <a:xfrm>
            <a:off x="1173480" y="1819124"/>
            <a:ext cx="1859280" cy="5413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Objective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F164B2-19B4-4CB8-9381-431B84F2461F}"/>
              </a:ext>
            </a:extLst>
          </p:cNvPr>
          <p:cNvSpPr/>
          <p:nvPr/>
        </p:nvSpPr>
        <p:spPr>
          <a:xfrm>
            <a:off x="1169674" y="5266065"/>
            <a:ext cx="1859280" cy="5413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Data Modeling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E3C573-49BA-4325-84D7-229ED43695BE}"/>
              </a:ext>
            </a:extLst>
          </p:cNvPr>
          <p:cNvSpPr/>
          <p:nvPr/>
        </p:nvSpPr>
        <p:spPr>
          <a:xfrm>
            <a:off x="1173480" y="2473313"/>
            <a:ext cx="1859280" cy="5413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Objective 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1E120-C8F7-479D-AD68-F38A1B6C347C}"/>
              </a:ext>
            </a:extLst>
          </p:cNvPr>
          <p:cNvSpPr/>
          <p:nvPr/>
        </p:nvSpPr>
        <p:spPr>
          <a:xfrm>
            <a:off x="1169674" y="3107732"/>
            <a:ext cx="1859280" cy="61662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Load Method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F48F71-0A55-4118-B004-A10DD205B7C3}"/>
              </a:ext>
            </a:extLst>
          </p:cNvPr>
          <p:cNvSpPr/>
          <p:nvPr/>
        </p:nvSpPr>
        <p:spPr>
          <a:xfrm>
            <a:off x="3260085" y="3158402"/>
            <a:ext cx="2016756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-Full Load</a:t>
            </a:r>
          </a:p>
          <a:p>
            <a:r>
              <a:rPr lang="en-US" sz="1600" dirty="0"/>
              <a:t>Truncate &amp; Insert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29273A-17AC-4187-9D5E-E6F4D96808C5}"/>
              </a:ext>
            </a:extLst>
          </p:cNvPr>
          <p:cNvSpPr/>
          <p:nvPr/>
        </p:nvSpPr>
        <p:spPr>
          <a:xfrm>
            <a:off x="1169674" y="5900484"/>
            <a:ext cx="1859280" cy="6685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Target Audience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A5CF85-CBB8-4B2D-A225-D028070DF226}"/>
              </a:ext>
            </a:extLst>
          </p:cNvPr>
          <p:cNvSpPr/>
          <p:nvPr/>
        </p:nvSpPr>
        <p:spPr>
          <a:xfrm>
            <a:off x="3270250" y="5266065"/>
            <a:ext cx="2016756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-None (as-is)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4DEBA0-8834-4965-A16D-18129F83822D}"/>
              </a:ext>
            </a:extLst>
          </p:cNvPr>
          <p:cNvSpPr/>
          <p:nvPr/>
        </p:nvSpPr>
        <p:spPr>
          <a:xfrm>
            <a:off x="3270250" y="3783162"/>
            <a:ext cx="2016756" cy="13979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-None (as-is)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DDFA92-EEC8-4C82-A8E4-287F0D9CDD61}"/>
              </a:ext>
            </a:extLst>
          </p:cNvPr>
          <p:cNvSpPr/>
          <p:nvPr/>
        </p:nvSpPr>
        <p:spPr>
          <a:xfrm>
            <a:off x="3270250" y="2523847"/>
            <a:ext cx="2016756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-Tables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2C5432-512B-4F34-AE26-212C0123BEF7}"/>
              </a:ext>
            </a:extLst>
          </p:cNvPr>
          <p:cNvSpPr/>
          <p:nvPr/>
        </p:nvSpPr>
        <p:spPr>
          <a:xfrm>
            <a:off x="3270250" y="1889292"/>
            <a:ext cx="2016756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-Traceability &amp; Debugging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AE6E6D-DB3B-410D-BEA1-6E182BC5B941}"/>
              </a:ext>
            </a:extLst>
          </p:cNvPr>
          <p:cNvSpPr/>
          <p:nvPr/>
        </p:nvSpPr>
        <p:spPr>
          <a:xfrm>
            <a:off x="3270250" y="1155696"/>
            <a:ext cx="2016757" cy="6535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-Raw, Unprocessed data as-is from the source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5D8486-932B-40CC-8297-6DFBD218BD08}"/>
              </a:ext>
            </a:extLst>
          </p:cNvPr>
          <p:cNvSpPr/>
          <p:nvPr/>
        </p:nvSpPr>
        <p:spPr>
          <a:xfrm>
            <a:off x="3270250" y="5900484"/>
            <a:ext cx="2016756" cy="668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-Data Engineers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7F792A-D4E2-4427-BF4C-2E27E9B32632}"/>
              </a:ext>
            </a:extLst>
          </p:cNvPr>
          <p:cNvSpPr/>
          <p:nvPr/>
        </p:nvSpPr>
        <p:spPr>
          <a:xfrm>
            <a:off x="5514348" y="5900484"/>
            <a:ext cx="2034532" cy="672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-Data Engineers</a:t>
            </a:r>
          </a:p>
          <a:p>
            <a:r>
              <a:rPr lang="en-US" sz="1600" dirty="0"/>
              <a:t>-Data Analysts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051FC9-F170-4154-9A8C-6A47D0529C6B}"/>
              </a:ext>
            </a:extLst>
          </p:cNvPr>
          <p:cNvSpPr/>
          <p:nvPr/>
        </p:nvSpPr>
        <p:spPr>
          <a:xfrm>
            <a:off x="5507972" y="5200083"/>
            <a:ext cx="2038350" cy="672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-None (as-is)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757AFE-7BAF-4133-87F9-7FCB1CE551BE}"/>
              </a:ext>
            </a:extLst>
          </p:cNvPr>
          <p:cNvSpPr/>
          <p:nvPr/>
        </p:nvSpPr>
        <p:spPr>
          <a:xfrm>
            <a:off x="5509222" y="3699748"/>
            <a:ext cx="2038352" cy="14494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-Data Cleaning</a:t>
            </a:r>
          </a:p>
          <a:p>
            <a:r>
              <a:rPr lang="en-US" sz="1600" dirty="0"/>
              <a:t>-Data Standardization</a:t>
            </a:r>
          </a:p>
          <a:p>
            <a:r>
              <a:rPr lang="en-US" sz="1600" dirty="0"/>
              <a:t>-Data Normalization</a:t>
            </a:r>
          </a:p>
          <a:p>
            <a:r>
              <a:rPr lang="en-US" sz="1600" dirty="0"/>
              <a:t>-Derived columns</a:t>
            </a:r>
          </a:p>
          <a:p>
            <a:r>
              <a:rPr lang="en-US" sz="1600" dirty="0"/>
              <a:t>-Data Enrichment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4398A2-2945-4C47-9168-175B95E3B388}"/>
              </a:ext>
            </a:extLst>
          </p:cNvPr>
          <p:cNvSpPr/>
          <p:nvPr/>
        </p:nvSpPr>
        <p:spPr>
          <a:xfrm>
            <a:off x="5507972" y="3122342"/>
            <a:ext cx="2038350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-Full Load</a:t>
            </a:r>
          </a:p>
          <a:p>
            <a:r>
              <a:rPr lang="en-US" sz="1600" dirty="0"/>
              <a:t>(Truncate &amp; Insert)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34E08B-4E01-4D52-91F8-0D76E246A041}"/>
              </a:ext>
            </a:extLst>
          </p:cNvPr>
          <p:cNvSpPr/>
          <p:nvPr/>
        </p:nvSpPr>
        <p:spPr>
          <a:xfrm>
            <a:off x="5520690" y="2535035"/>
            <a:ext cx="2038350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Tables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B28ED2-2C93-401F-A186-ED5C68B69E49}"/>
              </a:ext>
            </a:extLst>
          </p:cNvPr>
          <p:cNvSpPr/>
          <p:nvPr/>
        </p:nvSpPr>
        <p:spPr>
          <a:xfrm>
            <a:off x="5520690" y="1726491"/>
            <a:ext cx="2038350" cy="746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-Intermediate Layer</a:t>
            </a:r>
          </a:p>
          <a:p>
            <a:r>
              <a:rPr lang="en-US" sz="1600" dirty="0"/>
              <a:t>Prepare Data for 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C3CC9F-E3A5-4B0F-B83C-47C82EC51154}"/>
              </a:ext>
            </a:extLst>
          </p:cNvPr>
          <p:cNvSpPr/>
          <p:nvPr/>
        </p:nvSpPr>
        <p:spPr>
          <a:xfrm>
            <a:off x="5520690" y="1134957"/>
            <a:ext cx="2038350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-Clean &amp; Standardized 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A66B75-B924-43FD-B85E-60BBFC8D8BEA}"/>
              </a:ext>
            </a:extLst>
          </p:cNvPr>
          <p:cNvSpPr/>
          <p:nvPr/>
        </p:nvSpPr>
        <p:spPr>
          <a:xfrm>
            <a:off x="1169674" y="3777541"/>
            <a:ext cx="1859280" cy="14225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Data Transformation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344DAE-2350-4542-B578-1F72312CC94E}"/>
              </a:ext>
            </a:extLst>
          </p:cNvPr>
          <p:cNvSpPr/>
          <p:nvPr/>
        </p:nvSpPr>
        <p:spPr>
          <a:xfrm>
            <a:off x="7792720" y="1150157"/>
            <a:ext cx="2038350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-Business-ready Data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E81859-80B1-4281-83C3-F1EDB86D84BD}"/>
              </a:ext>
            </a:extLst>
          </p:cNvPr>
          <p:cNvSpPr/>
          <p:nvPr/>
        </p:nvSpPr>
        <p:spPr>
          <a:xfrm>
            <a:off x="7792720" y="1738008"/>
            <a:ext cx="2038350" cy="746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-Provide Data to be consumed for Reporting &amp; Analytics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642D31-CB1D-4580-A7AE-5A5E872B2CAB}"/>
              </a:ext>
            </a:extLst>
          </p:cNvPr>
          <p:cNvSpPr/>
          <p:nvPr/>
        </p:nvSpPr>
        <p:spPr>
          <a:xfrm>
            <a:off x="7792720" y="2523847"/>
            <a:ext cx="2038350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-Views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B5132B-DCC0-4C44-80E5-228556D7981C}"/>
              </a:ext>
            </a:extLst>
          </p:cNvPr>
          <p:cNvSpPr/>
          <p:nvPr/>
        </p:nvSpPr>
        <p:spPr>
          <a:xfrm>
            <a:off x="7782560" y="3120888"/>
            <a:ext cx="2038350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-None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1D30E6-A7EC-4DBA-9267-BFEA7CC208D0}"/>
              </a:ext>
            </a:extLst>
          </p:cNvPr>
          <p:cNvSpPr/>
          <p:nvPr/>
        </p:nvSpPr>
        <p:spPr>
          <a:xfrm>
            <a:off x="7779955" y="3717992"/>
            <a:ext cx="2038352" cy="14225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-Data Integration</a:t>
            </a:r>
          </a:p>
          <a:p>
            <a:r>
              <a:rPr lang="en-US" sz="1600" dirty="0"/>
              <a:t>-Data Aggregation</a:t>
            </a:r>
          </a:p>
          <a:p>
            <a:r>
              <a:rPr lang="en-US" sz="1600" dirty="0"/>
              <a:t>-Business logic &amp; Rules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C85210-1D36-469A-9A0D-0A6EFF3C673C}"/>
              </a:ext>
            </a:extLst>
          </p:cNvPr>
          <p:cNvSpPr/>
          <p:nvPr/>
        </p:nvSpPr>
        <p:spPr>
          <a:xfrm>
            <a:off x="7792720" y="5205108"/>
            <a:ext cx="2016756" cy="7790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/>
              <a:t>-Star </a:t>
            </a:r>
            <a:r>
              <a:rPr lang="en-US" sz="1600" dirty="0"/>
              <a:t>Schemas</a:t>
            </a:r>
          </a:p>
          <a:p>
            <a:r>
              <a:rPr lang="en-US" sz="1600" dirty="0"/>
              <a:t>-Aggregated objects</a:t>
            </a:r>
          </a:p>
          <a:p>
            <a:r>
              <a:rPr lang="en-US" sz="1600" dirty="0"/>
              <a:t>-Flat Tables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EE1F6F6-1848-46E7-8AA2-BEBC81EC2862}"/>
              </a:ext>
            </a:extLst>
          </p:cNvPr>
          <p:cNvSpPr/>
          <p:nvPr/>
        </p:nvSpPr>
        <p:spPr>
          <a:xfrm>
            <a:off x="7792720" y="6027684"/>
            <a:ext cx="2021840" cy="5413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-Data Analytics</a:t>
            </a:r>
          </a:p>
          <a:p>
            <a:r>
              <a:rPr lang="en-US" sz="1600" dirty="0"/>
              <a:t>-Business Users</a:t>
            </a:r>
          </a:p>
        </p:txBody>
      </p:sp>
    </p:spTree>
    <p:extLst>
      <p:ext uri="{BB962C8B-B14F-4D97-AF65-F5344CB8AC3E}">
        <p14:creationId xmlns:p14="http://schemas.microsoft.com/office/powerpoint/2010/main" val="1447627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147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Design the Data Warehouse Layers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the Data Warehouse Layers</dc:title>
  <dc:creator>Geu</dc:creator>
  <cp:lastModifiedBy>Geu</cp:lastModifiedBy>
  <cp:revision>16</cp:revision>
  <dcterms:created xsi:type="dcterms:W3CDTF">2026-02-19T09:27:53Z</dcterms:created>
  <dcterms:modified xsi:type="dcterms:W3CDTF">2026-04-22T05:06:14Z</dcterms:modified>
</cp:coreProperties>
</file>